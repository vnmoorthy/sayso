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71717A"/>
            </a:solidFill>
            <a:effectLst/>
          </c:spPr>
          <c:invertIfNegative val="0"/>
          <c:dLbls>
            <c:numFmt formatCode="0.0&quot; s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4F5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171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171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171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FF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30 tok/s</c:v>
                  </c:pt>
                  <c:pt idx="1">
                    <c:v>100 tok/s</c:v>
                  </c:pt>
                  <c:pt idx="2">
                    <c:v>300 tok/s</c:v>
                  </c:pt>
                  <c:pt idx="3">
                    <c:v>800 tok/s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16.7</c:v>
                </c:pt>
                <c:pt idx="1">
                  <c:v>5</c:v>
                </c:pt>
                <c:pt idx="2">
                  <c:v>1.7</c:v>
                </c:pt>
                <c:pt idx="3">
                  <c:v>0.6</c:v>
                </c:pt>
              </c:numCache>
            </c:numRef>
          </c:val>
        </c:ser>
        <c:dLbls>
          <c:numFmt formatCode="0.0&quot; s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4F4F5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4F5"/>
                </a:solidFill>
                <a:latin typeface="Menl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61A"/>
        </a:solidFill>
        <a:ln>
          <a:noFill/>
        </a:ln>
        <a:effectLst/>
      </c:spPr>
    </c:plotArea>
    <c:plotVisOnly val="1"/>
    <c:dispBlanksAs val="span"/>
  </c:chart>
  <c:spPr>
    <a:solidFill>
      <a:srgbClr val="1616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1 (0:00–0:15) — "I'm [name]. This is Sayso — your terminal, on your say-so. You talk; it runs your terminal, your browser and your GitHub. And it listens to how you say it."
Setup (before you're called): server running (uv run bot.py), web app on screen (npm run dev), workspace reset, pulse server not running, mic tested. Have the say-so card colour and the HUD visible. Volume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2 (0:15–0:35) — "Voice agents today have three problems. They're slow — you talk, then you wait. They're flat — every reply sounds the same whether you're delighted or furious. And they don't do anything; they narrate. Developers meanwhile live in three windows — terminal, browser, GitHub — and switch between them a hundred times a 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3 (0:35–0:50) — "Sayso collapses those windows into one conversation. It's voice-controlled software and an agent that acts — both tracks. Built today on SambaNova, Hume and Pipecat."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4 (0:50–2:10) — Switch to the app. Press Connect. Sayso greets you. Then, out loud:
4a "Create a web app called pulse with a live clock and run it on port 8000." — "Watch the right side. Two files written, a server started, and look at the HUD: that's SambaNova — first token in a couple hundred milliseconds, hundreds of tokens a second. The whole turn, three tool calls, is over before I finish this sentence."
4b "Open it in the browser." — "It's live. Served from the workspace, rendered right here."
4c (put real annoyance in your voice) "Ugh, the clock is tiny — make it huge and neon." — "Did you hear that? Hume's prosody model scored my tone, the orb changed, and Sayso's voice softened — those are Octave acting instructions being retuned live. Same words, different delivery, because I sounded annoyed."
4d "Run the tests." — "One fails. Output streams as it happens — nothing is hidden behind a spinner."
4e "Fix it." — "Rewrite, re-run, green. And notice the voice again — brighter, because I did sound pleased."
4f "File a GitHub issue to add dark mode." — "That's a real issue, on a real repo, via the authenticated GitHub CLI. Agents that act — not narrate."
4g "Delete the pulse folder." — "Here's the part I care most about. Every command is classified before it runs. Destructive ones stop at the say-so gate — I approve by clicking, or just by saying…" "Yes." "…gone. Sandboxed to the workspace, transparent, and reversible up to the moment I say so."
Fallbacks — Mic trouble: type the same commands in the composer. Wi-Fi trouble: unset the keys → demo brain + browser speech. Emotion not firing: speak a longer, clearly annoyed sentence (≥ 1.5 s). Port 8000 busy: say "run it on port 8010".
One-liners: "It doesn't transcribe your commands. It executes them." · "The screen is the audit log." · "Speed is the feature. Emotion is the difference."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5 (2:10–2:30) — "Under the hood it's one Pipecat pipeline: WebRTC in, a Hume emotion processor scoring my speech, STT, then a SambaNova model doing function calling against a toolbox — shell, processes, files, browser, GitHub — behind the safety gate, then Hume Octave out. Every tool streams RTVI events to the UI, so the screen is the audit log."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6 (2:30–2:40) — "Why silicon speed matters: a tool-heavy turn is hundreds of tokens of JSON. At hundreds of tokens a second that's sub-second; on slower inference it's dead air. Speed isn't a nicety for voice — it's the difference between a colleague and a phone tree."
The bar chart is arithmetic (500 tokens ÷ tok/s), not a benchmark. The HUD in the app shows the real numbers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7 (2:40–2:48) — "Hume gives us 48 emotions; we collapse them into eight moods that steer both the words and the voice."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8 (2:48–2:53) — "And the say-so gate means a voice agent with root-level power is still safe to run."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9 (2:53–2:58) — "All of this is open source at github.com/vnmoorthy/sayso — twelve tools, a keyless demo mode, and a pre-flight script so you can run it in ten minutes."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10 (2:58–3:00) — "Next: phone-in via Twilio, and yes — the same brain on a Unitree Go2. Sayso, fetch. Thank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oorthy-Downloads-Projects-VoiceAI-Hackathon/db465554-5a3a-4136-b25d-6400198f2149/scratchpad/img/title-bg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</a:t>
            </a:r>
            <a:pPr indent="0" marL="0">
              <a:buNone/>
            </a:pPr>
            <a:r>
              <a:rPr lang="en-US" sz="1700" b="1" spc="-50" kern="0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AGI House SF · Voice AI Hackathon · Sept 19, 2026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/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30368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voice-native developer agent that runs your terminal, browser and GitHub — at conversation speed, in a voice that listens to how you feel.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74320"/>
            <a:ext cx="5696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 1 </a:t>
            </a:r>
            <a:pPr algn="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that act</a:t>
            </a:r>
            <a:pPr algn="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 </a:t>
            </a:r>
            <a:pPr algn="r" indent="0" marL="0">
              <a:buNone/>
            </a:pPr>
            <a:r>
              <a:rPr lang="en-US" sz="1200" b="1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 2 </a:t>
            </a:r>
            <a:pPr algn="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voice-controlled 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</a:t>
            </a:r>
            <a:pPr indent="0" marL="0">
              <a:buNone/>
            </a:pPr>
            <a:r>
              <a:rPr lang="en-US" sz="1700" b="1" spc="-50" kern="0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AGI House SF · Voice AI Hackathon · Sept 19,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400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agents talk. They don’t do.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329184" cy="329184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761488"/>
            <a:ext cx="2971800" cy="54864"/>
          </a:xfrm>
          <a:prstGeom prst="roundRect">
            <a:avLst>
              <a:gd name="adj" fmla="val 50000"/>
            </a:avLst>
          </a:prstGeom>
          <a:solidFill>
            <a:srgbClr val="71717A"/>
          </a:solidFill>
          <a:ln w="3175">
            <a:solidFill>
              <a:srgbClr val="7171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487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0:00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487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0:12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18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Dead air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57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speak. Then you wait.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34256" y="173736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2011680"/>
            <a:ext cx="329184" cy="329184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8576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08576" y="256032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82896" y="256032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57216" y="256032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1536" y="256032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05856" y="256032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0176" y="256032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256032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28816" y="256032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256032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77456" y="256032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1776" y="256032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08576" y="3218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Flat voice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4608576" y="3657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tone whether you’re thrilled or furious.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19872" y="173736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2011680"/>
            <a:ext cx="329184" cy="329184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94192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94192" y="2450592"/>
            <a:ext cx="2468880" cy="548640"/>
          </a:xfrm>
          <a:prstGeom prst="wedgeRoundRectCallout">
            <a:avLst/>
          </a:prstGeom>
          <a:solidFill>
            <a:srgbClr val="1F1F25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“I would run that for you…”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394192" y="3218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Toy demos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8394192" y="3657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narrate. They don’t act.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7548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Developers live in three windows and switch between them hundreds of times a day.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903720" y="48006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13448" y="4910328"/>
            <a:ext cx="73152" cy="73152"/>
          </a:xfrm>
          <a:prstGeom prst="ellipse">
            <a:avLst/>
          </a:prstGeom>
          <a:solidFill>
            <a:srgbClr val="FF5C5C"/>
          </a:solidFill>
          <a:ln w="3175">
            <a:solidFill>
              <a:srgbClr val="FF5C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0" y="4910328"/>
            <a:ext cx="73152" cy="73152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51192" y="4910328"/>
            <a:ext cx="73152" cy="73152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03720" y="505663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terminal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293608" y="5257800"/>
            <a:ext cx="283464" cy="0"/>
          </a:xfrm>
          <a:prstGeom prst="line">
            <a:avLst/>
          </a:prstGeom>
          <a:noFill/>
          <a:ln w="15875">
            <a:solidFill>
              <a:srgbClr val="71717A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641080" y="48006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50808" y="4910328"/>
            <a:ext cx="73152" cy="73152"/>
          </a:xfrm>
          <a:prstGeom prst="ellipse">
            <a:avLst/>
          </a:prstGeom>
          <a:solidFill>
            <a:srgbClr val="FF5C5C"/>
          </a:solidFill>
          <a:ln w="3175">
            <a:solidFill>
              <a:srgbClr val="FF5C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69680" y="4910328"/>
            <a:ext cx="73152" cy="73152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88552" y="4910328"/>
            <a:ext cx="73152" cy="73152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641080" y="505663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browser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030968" y="5257800"/>
            <a:ext cx="283464" cy="0"/>
          </a:xfrm>
          <a:prstGeom prst="line">
            <a:avLst/>
          </a:prstGeom>
          <a:noFill/>
          <a:ln w="15875">
            <a:solidFill>
              <a:srgbClr val="71717A"/>
            </a:solidFill>
            <a:prstDash val="solid"/>
            <a:headEnd type="triangl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378440" y="48006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88168" y="4910328"/>
            <a:ext cx="73152" cy="73152"/>
          </a:xfrm>
          <a:prstGeom prst="ellipse">
            <a:avLst/>
          </a:prstGeom>
          <a:solidFill>
            <a:srgbClr val="FF5C5C"/>
          </a:solidFill>
          <a:ln w="3175">
            <a:solidFill>
              <a:srgbClr val="FF5C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607040" y="4910328"/>
            <a:ext cx="73152" cy="73152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25912" y="4910328"/>
            <a:ext cx="73152" cy="73152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378440" y="505663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903720" y="58247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 switches, all day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</a:t>
            </a:r>
            <a:pPr indent="0" marL="0">
              <a:buNone/>
            </a:pPr>
            <a:r>
              <a:rPr lang="en-US" sz="1700" b="1" spc="-50" kern="0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AGI House SF · Voice AI Hackathon · Sept 19,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400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conversation. Real actions.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 collapses the three windows into one voice loop.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566160" cy="1024128"/>
          </a:xfrm>
          <a:prstGeom prst="roundRect">
            <a:avLst>
              <a:gd name="adj" fmla="val 10714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89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FF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TRACK 2 · VOICE-CONTROLLED SOFTWARE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Software you operate entirely by speaking — terminal → browser.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566160" cy="1024128"/>
          </a:xfrm>
          <a:prstGeom prst="roundRect">
            <a:avLst>
              <a:gd name="adj" fmla="val 10714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782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FF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TRACK 1 · AGENTS THAT ACT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434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agent that acts — it files real GitHub issues.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303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BUILT TODAY 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568696"/>
            <a:ext cx="91440" cy="91440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48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SambaNova  </a:t>
            </a:r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843016"/>
            <a:ext cx="91440" cy="91440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760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Hume  </a:t>
            </a:r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+ emotion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117336"/>
            <a:ext cx="91440" cy="91440"/>
          </a:xfrm>
          <a:prstGeom prst="ellipse">
            <a:avLst/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6035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Pipecat  </a:t>
            </a:r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16552" y="1719072"/>
            <a:ext cx="7242048" cy="4539996"/>
          </a:xfrm>
          <a:prstGeom prst="rect">
            <a:avLst/>
          </a:prstGeom>
          <a:solidFill>
            <a:srgbClr val="09090B"/>
          </a:solidFill>
          <a:ln w="12700">
            <a:solidFill>
              <a:srgbClr val="C8FF3D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C8FF3D">
                <a:alpha val="22000"/>
              </a:srgbClr>
            </a:outerShdw>
          </a:effectLst>
        </p:spPr>
      </p:sp>
      <p:pic>
        <p:nvPicPr>
          <p:cNvPr id="21" name="Image 0" descr="/Users/moorthy/Downloads/Projects/VoiceAI Hackathon/docs/assets/screenshot-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737360"/>
            <a:ext cx="7205472" cy="4503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</a:t>
            </a:r>
            <a:pPr indent="0" marL="0">
              <a:buNone/>
            </a:pPr>
            <a:r>
              <a:rPr lang="en-US" sz="1700" b="1" spc="-50" kern="0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AGI House SF · Voice AI Hackathon · Sept 19,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400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demo: seven beats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3736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“Create a web app called pulse… run it on port 8000”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0574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tool calls · HUD shows TTFT and tok/s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7744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“Open it in the browser”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6974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clock renders in the in-app Browser tab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01752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“Ugh, the clock is tiny — make it huge and neon”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3375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said annoyed → emotion badge · voice softens · file rewritten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75888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65760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“Run the tests”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977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failing test streams line by line, exit 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15968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29768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“Fix it”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617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rewrite · re-run · green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956048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956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493776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“File a GitHub issue to add dark mode”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5257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real issue on a real repo, via the gh CLI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596128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596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557784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“Delete the pulse folder”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5897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say-so gate → “yes” → gone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08392" y="1719072"/>
            <a:ext cx="3950208" cy="2328651"/>
          </a:xfrm>
          <a:prstGeom prst="rect">
            <a:avLst/>
          </a:prstGeom>
          <a:solidFill>
            <a:srgbClr val="09090B"/>
          </a:solidFill>
          <a:ln w="12700">
            <a:solidFill>
              <a:srgbClr val="2A2A31"/>
            </a:solidFill>
            <a:prstDash val="solid"/>
          </a:ln>
        </p:spPr>
      </p:sp>
      <p:pic>
        <p:nvPicPr>
          <p:cNvPr id="35" name="Image 0" descr="/private/tmp/claude-501/-Users-moorthy-Downloads-Projects-VoiceAI-Hackathon/db465554-5a3a-4136-b25d-6400198f2149/scratchpad/img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737360"/>
            <a:ext cx="3913632" cy="2292075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607808" y="1618488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60780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708392" y="4239747"/>
            <a:ext cx="3950208" cy="2040764"/>
          </a:xfrm>
          <a:prstGeom prst="rect">
            <a:avLst/>
          </a:prstGeom>
          <a:solidFill>
            <a:srgbClr val="09090B"/>
          </a:solidFill>
          <a:ln w="12700">
            <a:solidFill>
              <a:srgbClr val="FFB020">
                <a:alpha val="65000"/>
              </a:srgbClr>
            </a:solidFill>
            <a:prstDash val="solid"/>
          </a:ln>
        </p:spPr>
      </p:sp>
      <p:pic>
        <p:nvPicPr>
          <p:cNvPr id="39" name="Image 1" descr="/private/tmp/claude-501/-Users-moorthy-Downloads-Projects-VoiceAI-Hackathon/db465554-5a3a-4136-b25d-6400198f2149/scratchpad/img/sayso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4258035"/>
            <a:ext cx="3913632" cy="2004188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7607808" y="4139163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607808" y="413916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</a:t>
            </a:r>
            <a:pPr indent="0" marL="0">
              <a:buNone/>
            </a:pPr>
            <a:r>
              <a:rPr lang="en-US" sz="1700" b="1" spc="-50" kern="0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AGI House SF · Voice AI Hackathon · Sept 19,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400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720840" y="1106424"/>
            <a:ext cx="411480" cy="0"/>
          </a:xfrm>
          <a:prstGeom prst="line">
            <a:avLst/>
          </a:prstGeom>
          <a:noFill/>
          <a:ln w="25400">
            <a:solidFill>
              <a:srgbClr val="C8FF3D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7223760" y="9875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audio &amp; control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823960" y="1106424"/>
            <a:ext cx="411480" cy="0"/>
          </a:xfrm>
          <a:prstGeom prst="line">
            <a:avLst/>
          </a:prstGeom>
          <a:noFill/>
          <a:ln w="25400">
            <a:solidFill>
              <a:srgbClr val="8B7CF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326880" y="987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RTVI messages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469880" y="1005840"/>
            <a:ext cx="365760" cy="201168"/>
          </a:xfrm>
          <a:prstGeom prst="roundRect">
            <a:avLst>
              <a:gd name="adj" fmla="val 36364"/>
            </a:avLst>
          </a:prstGeom>
          <a:solidFill>
            <a:srgbClr val="09090B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27080" y="9875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say-so gate</a:t>
            </a:r>
            <a:endParaRPr lang="en-US" sz="1100" dirty="0"/>
          </a:p>
        </p:txBody>
      </p:sp>
      <p:pic>
        <p:nvPicPr>
          <p:cNvPr id="12" name="Image 0" descr="/private/tmp/claude-501/-Users-moorthy-Downloads-Projects-VoiceAI-Hackathon/db465554-5a3a-4136-b25d-6400198f2149/scratchpad/img/arch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723" y="1554480"/>
            <a:ext cx="910024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</a:t>
            </a:r>
            <a:pPr indent="0" marL="0">
              <a:buNone/>
            </a:pPr>
            <a:r>
              <a:rPr lang="en-US" sz="1700" b="1" spc="-50" kern="0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AGI House SF · Voice AI Hackathon · Sept 19,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400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silicon speed matters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tool-heavy turn is hundreds of tokens of JSON.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300–600</a:t>
            </a:r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tokens for three tool calls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28016" cy="12801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hundreds of tok/s</a:t>
            </a:r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→   sub-second turn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28016" cy="128016"/>
          </a:xfrm>
          <a:prstGeom prst="ellipse">
            <a:avLst/>
          </a:prstGeom>
          <a:solidFill>
            <a:srgbClr val="FF5C5C"/>
          </a:solidFill>
          <a:ln w="3175">
            <a:solidFill>
              <a:srgbClr val="FF5C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9319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 tok/s</a:t>
            </a:r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→   10–20 s of dead air</a:t>
            </a:r>
            <a:endParaRPr lang="en-US" sz="1600" dirty="0"/>
          </a:p>
        </p:txBody>
      </p:sp>
      <p:pic>
        <p:nvPicPr>
          <p:cNvPr id="12" name="Image 0" descr="/private/tmp/claude-501/-Users-moorthy-Downloads-Projects-VoiceAI-Hackathon/db465554-5a3a-4136-b25d-6400198f2149/scratchpad/img/h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26280"/>
            <a:ext cx="5212080" cy="68730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5305027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live HUD, every turn: STT · TTFT · tok/s · TTS — measured, not quoted.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875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Models · Meta-Llama-3.3-70B (default) · DeepSeek-V3.1 · gpt-oss-120b · gemma-4-31B (General Compute)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737360"/>
            <a:ext cx="5468112" cy="4434840"/>
          </a:xfrm>
          <a:prstGeom prst="roundRect">
            <a:avLst>
              <a:gd name="adj" fmla="val 2474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 to emit a 500-token tool turn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194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arithmetic, not a benchmark · 500 tokens ÷ tok/s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355080" y="25603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</a:t>
            </a:r>
            <a:pPr indent="0" marL="0">
              <a:buNone/>
            </a:pPr>
            <a:r>
              <a:rPr lang="en-US" sz="1700" b="1" spc="-50" kern="0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AGI House SF · Voice AI Hackathon · Sept 19,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400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voice that listens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Hume prosody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71800" y="1938528"/>
            <a:ext cx="402336" cy="0"/>
          </a:xfrm>
          <a:prstGeom prst="line">
            <a:avLst/>
          </a:prstGeom>
          <a:noFill/>
          <a:ln w="15875">
            <a:solidFill>
              <a:srgbClr val="7171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65576" y="173736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65576" y="17373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 emotions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88736" y="1938528"/>
            <a:ext cx="402336" cy="0"/>
          </a:xfrm>
          <a:prstGeom prst="line">
            <a:avLst/>
          </a:prstGeom>
          <a:noFill/>
          <a:ln w="15875">
            <a:solidFill>
              <a:srgbClr val="7171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82512" y="173736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7373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moods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05672" y="1938528"/>
            <a:ext cx="402336" cy="0"/>
          </a:xfrm>
          <a:prstGeom prst="line">
            <a:avLst/>
          </a:prstGeom>
          <a:noFill/>
          <a:ln w="15875">
            <a:solidFill>
              <a:srgbClr val="7171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99448" y="173736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 w="9525">
            <a:solidFill>
              <a:srgbClr val="C8FF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9448" y="17373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levers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697480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Octave acting instructions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voice adapts — “calm, warm, reassuring”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794760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749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tone note in the LLM context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069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 the words adapt too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846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request, different delivery.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035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Hume expression measurement scores up to 5 s of each utterance; the orb changes hue with the mood.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983480" y="2514600"/>
            <a:ext cx="6656832" cy="3803904"/>
          </a:xfrm>
          <a:prstGeom prst="roundRect">
            <a:avLst>
              <a:gd name="adj" fmla="val 2885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23560" y="2569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MOOD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25694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OCTAVE ACTING INSTRUCTION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12080" y="2843784"/>
            <a:ext cx="6199632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57800" y="2962656"/>
            <a:ext cx="182880" cy="182880"/>
          </a:xfrm>
          <a:prstGeom prst="ellipse">
            <a:avLst/>
          </a:prstGeom>
          <a:solidFill>
            <a:srgbClr val="C8FF3D"/>
          </a:solidFill>
          <a:ln w="15875">
            <a:solidFill>
              <a:srgbClr val="3F4A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23560" y="284378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neutral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28437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“confident, friendly, crisp”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212080" y="3264408"/>
            <a:ext cx="6199632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7800" y="3383280"/>
            <a:ext cx="182880" cy="182880"/>
          </a:xfrm>
          <a:prstGeom prst="ellipse">
            <a:avLst/>
          </a:prstGeom>
          <a:solidFill>
            <a:srgbClr val="5EB0FF"/>
          </a:solidFill>
          <a:ln w="15875">
            <a:solidFill>
              <a:srgbClr val="2D5F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23560" y="326440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calm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326440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“calm, steady, warm”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212080" y="3685032"/>
            <a:ext cx="6199632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57800" y="3803904"/>
            <a:ext cx="182880" cy="182880"/>
          </a:xfrm>
          <a:prstGeom prst="ellipse">
            <a:avLst/>
          </a:prstGeom>
          <a:solidFill>
            <a:srgbClr val="C8FF3D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23560" y="368503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excited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368503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“upbeat, bright, energetic”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212080" y="4105656"/>
            <a:ext cx="6199632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57800" y="4224528"/>
            <a:ext cx="182880" cy="182880"/>
          </a:xfrm>
          <a:prstGeom prst="ellipse">
            <a:avLst/>
          </a:prstGeom>
          <a:solidFill>
            <a:srgbClr val="D9FF5C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23560" y="410565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happy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132320" y="410565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“warm, cheerful, light”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212080" y="4526280"/>
            <a:ext cx="6199632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4645152"/>
            <a:ext cx="182880" cy="182880"/>
          </a:xfrm>
          <a:prstGeom prst="ellipse">
            <a:avLst/>
          </a:prstGeom>
          <a:solidFill>
            <a:srgbClr val="FF5C5C"/>
          </a:solidFill>
          <a:ln w="15875">
            <a:solidFill>
              <a:srgbClr val="FF7A1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623560" y="45262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frustrated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7132320" y="452628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“calm, warm, reassuring, unhurried”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212080" y="4946904"/>
            <a:ext cx="6199632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57800" y="5065776"/>
            <a:ext cx="182880" cy="182880"/>
          </a:xfrm>
          <a:prstGeom prst="ellipse">
            <a:avLst/>
          </a:prstGeom>
          <a:solidFill>
            <a:srgbClr val="FF7A45"/>
          </a:solidFill>
          <a:ln w="15875">
            <a:solidFill>
              <a:srgbClr val="FF5C5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23560" y="494690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stressed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7132320" y="494690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“gentle, grounded, reassuring”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212080" y="5367528"/>
            <a:ext cx="6199632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57800" y="5486400"/>
            <a:ext cx="182880" cy="182880"/>
          </a:xfrm>
          <a:prstGeom prst="ellipse">
            <a:avLst/>
          </a:prstGeom>
          <a:solidFill>
            <a:srgbClr val="8B7CFF"/>
          </a:solidFill>
          <a:ln w="15875">
            <a:solidFill>
              <a:srgbClr val="5B48D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623560" y="53675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confused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7132320" y="536752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“patient, clear, gently pedagogical”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212080" y="5788152"/>
            <a:ext cx="6199632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257800" y="5907024"/>
            <a:ext cx="182880" cy="182880"/>
          </a:xfrm>
          <a:prstGeom prst="ellipse">
            <a:avLst/>
          </a:prstGeom>
          <a:solidFill>
            <a:srgbClr val="4F7BC8"/>
          </a:solidFill>
          <a:ln w="15875">
            <a:solidFill>
              <a:srgbClr val="2A3F6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623560" y="578815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sad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7132320" y="578815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“soft, gentle, empathetic”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</a:t>
            </a:r>
            <a:pPr indent="0" marL="0">
              <a:buNone/>
            </a:pPr>
            <a:r>
              <a:rPr lang="en-US" sz="1700" b="1" spc="-50" kern="0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AGI House SF · Voice AI Hackathon · Sept 19,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400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 enough to give root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command is classified before it runs.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2A1D05"/>
          </a:solidFill>
          <a:ln w="9525">
            <a:solidFill>
              <a:srgbClr val="5A3D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rm -rf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09344" y="2240280"/>
            <a:ext cx="758952" cy="329184"/>
          </a:xfrm>
          <a:prstGeom prst="roundRect">
            <a:avLst>
              <a:gd name="adj" fmla="val 50000"/>
            </a:avLst>
          </a:prstGeom>
          <a:solidFill>
            <a:srgbClr val="2A1D05"/>
          </a:solidFill>
          <a:ln w="9525">
            <a:solidFill>
              <a:srgbClr val="5A3D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09344" y="2240280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96312" y="2240280"/>
            <a:ext cx="1801368" cy="329184"/>
          </a:xfrm>
          <a:prstGeom prst="roundRect">
            <a:avLst>
              <a:gd name="adj" fmla="val 50000"/>
            </a:avLst>
          </a:prstGeom>
          <a:solidFill>
            <a:srgbClr val="2A1D05"/>
          </a:solidFill>
          <a:ln w="9525">
            <a:solidFill>
              <a:srgbClr val="5A3D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96312" y="2240280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 push --force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25696" y="2240280"/>
            <a:ext cx="1453896" cy="329184"/>
          </a:xfrm>
          <a:prstGeom prst="roundRect">
            <a:avLst>
              <a:gd name="adj" fmla="val 50000"/>
            </a:avLst>
          </a:prstGeom>
          <a:solidFill>
            <a:srgbClr val="2A1D05"/>
          </a:solidFill>
          <a:ln w="9525">
            <a:solidFill>
              <a:srgbClr val="5A3D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25696" y="2240280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kill / pkill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1193292" cy="329184"/>
          </a:xfrm>
          <a:prstGeom prst="roundRect">
            <a:avLst>
              <a:gd name="adj" fmla="val 50000"/>
            </a:avLst>
          </a:prstGeom>
          <a:solidFill>
            <a:srgbClr val="2A1D05"/>
          </a:solidFill>
          <a:ln w="9525">
            <a:solidFill>
              <a:srgbClr val="5A3D0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660904"/>
            <a:ext cx="11932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mkfs · dd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69948" y="2660904"/>
            <a:ext cx="1367028" cy="329184"/>
          </a:xfrm>
          <a:prstGeom prst="roundRect">
            <a:avLst>
              <a:gd name="adj" fmla="val 50000"/>
            </a:avLst>
          </a:prstGeom>
          <a:solidFill>
            <a:srgbClr val="2A1D05"/>
          </a:solidFill>
          <a:ln w="9525">
            <a:solidFill>
              <a:srgbClr val="5A3D0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69948" y="2660904"/>
            <a:ext cx="1367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curl … | sh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64992" y="2660904"/>
            <a:ext cx="2496312" cy="329184"/>
          </a:xfrm>
          <a:prstGeom prst="roundRect">
            <a:avLst>
              <a:gd name="adj" fmla="val 50000"/>
            </a:avLst>
          </a:prstGeom>
          <a:solidFill>
            <a:srgbClr val="2A1D05"/>
          </a:solidFill>
          <a:ln w="9525">
            <a:solidFill>
              <a:srgbClr val="5A3D0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64992" y="266090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paths outside workspace/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7033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Destructive → say-so card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0325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held, shown with the exact command and the reason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562856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562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45445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Approve by click or by voice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48737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“yes” resolves it; denied commands run nothing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404104"/>
            <a:ext cx="310896" cy="310896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53858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Sandboxed workspace/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5715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paths that escape it are held too — nothing happens off-screen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1874520"/>
            <a:ext cx="5148072" cy="2788920"/>
          </a:xfrm>
          <a:prstGeom prst="roundRect">
            <a:avLst>
              <a:gd name="adj" fmla="val 5246"/>
            </a:avLst>
          </a:prstGeom>
          <a:solidFill>
            <a:srgbClr val="16161A"/>
          </a:solidFill>
          <a:ln w="19050">
            <a:solidFill>
              <a:srgbClr val="FFB020"/>
            </a:solidFill>
            <a:prstDash val="solid"/>
          </a:ln>
          <a:effectLst>
            <a:outerShdw sx="100000" sy="100000" kx="0" ky="0" algn="bl" rotWithShape="0" blurRad="203200" dist="50800" dir="5400000">
              <a:srgbClr val="FFB02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21488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A1D05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665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 needs your say-so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177272" y="225856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A1D05"/>
          </a:solidFill>
          <a:ln w="9525">
            <a:solidFill>
              <a:srgbClr val="5A3D0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77272" y="2258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DESTRUCTIVE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66560" y="2834640"/>
            <a:ext cx="4599432" cy="502920"/>
          </a:xfrm>
          <a:prstGeom prst="roundRect">
            <a:avLst>
              <a:gd name="adj" fmla="val 14545"/>
            </a:avLst>
          </a:prstGeom>
          <a:solidFill>
            <a:srgbClr val="0E0E10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49440" y="2834640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</a:t>
            </a:r>
            <a:pPr indent="0" marL="0">
              <a:buNone/>
            </a:pPr>
            <a:r>
              <a:rPr lang="en-US" sz="1700" dirty="0">
                <a:solidFill>
                  <a:srgbClr val="FFB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rm -rf pulse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destructive: recursive delete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766560" y="384048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6656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Approve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275320" y="3840480"/>
            <a:ext cx="1097280" cy="502920"/>
          </a:xfrm>
          <a:prstGeom prst="roundRect">
            <a:avLst>
              <a:gd name="adj" fmla="val 21818"/>
            </a:avLst>
          </a:prstGeom>
          <a:solidFill>
            <a:srgbClr val="1F1F25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75320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Deny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9509760" y="3840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…or just say “yes”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489204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confirm_request → say-so card → resolve_confirmation → run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492240" y="5257800"/>
            <a:ext cx="5148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Streaming transparency: every tool streams RTVI events to the screen — nothing happens off-screen.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</a:t>
            </a:r>
            <a:pPr indent="0" marL="0">
              <a:buNone/>
            </a:pPr>
            <a:r>
              <a:rPr lang="en-US" sz="1700" b="1" spc="-50" kern="0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AGI House SF · Voice AI Hackathon · Sept 19,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400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today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949440" cy="3767328"/>
          </a:xfrm>
          <a:prstGeom prst="roundRect">
            <a:avLst>
              <a:gd name="adj" fmla="val 2913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182880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Pipecat 1.11 · SmallWebRTC · Silero VAD · smart-turn v3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340864"/>
            <a:ext cx="6492240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4086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34086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SambaNova — Llama-3.3-70B · DeepSeek-V3.1 · gpt-oss-120b · MiniMax-M2.7 · General Compute — gemma-4-31B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852928"/>
            <a:ext cx="6492240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5292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VOICE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85292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Hume Octave TTS · Hume expression measurement (prosody)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364992"/>
            <a:ext cx="6492240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36499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SPEECH-TO-TEXT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36499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Gradium · Deepgram · local Whisper (MLX)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877056"/>
            <a:ext cx="6492240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87705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423160" y="387705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tools — shell · processes · files · browser · GitHub (gh CLI)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389120"/>
            <a:ext cx="6492240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38912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 APP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438912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19 · Vite · Tailwind v4 · framer-motion · @pipecat-ai/client-js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4901184"/>
            <a:ext cx="6492240" cy="0"/>
          </a:xfrm>
          <a:prstGeom prst="line">
            <a:avLst/>
          </a:prstGeom>
          <a:noFill/>
          <a:ln w="6350">
            <a:solidFill>
              <a:srgbClr val="2A2A3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9011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SERVER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490118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 3.12 · uv · FastAPI demo brain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733288"/>
            <a:ext cx="1778508" cy="347472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733288"/>
            <a:ext cx="17785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keyless demo mode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455164" y="5733288"/>
            <a:ext cx="1545336" cy="347472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55164" y="5733288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?mock=1 replay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28516" y="5733288"/>
            <a:ext cx="2167128" cy="347472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28516" y="5733288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pre-flight key checker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23660" y="5733288"/>
            <a:ext cx="690372" cy="347472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23660" y="5733288"/>
            <a:ext cx="6903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01000" y="1737360"/>
            <a:ext cx="3108960" cy="310896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3175">
            <a:solidFill>
              <a:srgbClr val="F4F4F5"/>
            </a:solidFill>
            <a:prstDash val="solid"/>
          </a:ln>
        </p:spPr>
      </p:sp>
      <p:pic>
        <p:nvPicPr>
          <p:cNvPr id="36" name="Image 0" descr="/private/tmp/claude-501/-Users-moorthy-Downloads-Projects-VoiceAI-Hackathon/db465554-5a3a-4136-b25d-6400198f2149/scratchpad/img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920240"/>
            <a:ext cx="2743200" cy="274320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7498080" y="50749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github.com/vnmoorthy/sayso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7498080" y="54406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source · MIT · running in ten minutes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sayso</a:t>
            </a:r>
            <a:pPr indent="0" marL="0">
              <a:buNone/>
            </a:pPr>
            <a:r>
              <a:rPr lang="en-US" sz="1700" b="1" spc="-50" kern="0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AGI House SF · Voice AI Hackathon · Sept 19,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400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What’s next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61320" cy="0"/>
          </a:xfrm>
          <a:prstGeom prst="line">
            <a:avLst/>
          </a:prstGeom>
          <a:noFill/>
          <a:ln w="25400">
            <a:solidFill>
              <a:srgbClr val="2A2A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834640"/>
            <a:ext cx="365760" cy="365760"/>
          </a:xfrm>
          <a:prstGeom prst="ellipse">
            <a:avLst/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34747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Phone-in via Twilio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84048" y="38404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call your dev box from the road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688336"/>
            <a:ext cx="658368" cy="658368"/>
          </a:xfrm>
          <a:prstGeom prst="ellipse">
            <a:avLst/>
          </a:prstGeom>
          <a:solidFill>
            <a:srgbClr val="09090B"/>
          </a:solidFill>
          <a:ln w="19050">
            <a:solidFill>
              <a:srgbClr val="C8FF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9584" y="2834640"/>
            <a:ext cx="365760" cy="365760"/>
          </a:xfrm>
          <a:prstGeom prst="ellipse">
            <a:avLst/>
          </a:prstGeom>
          <a:solidFill>
            <a:srgbClr val="C8FF3D"/>
          </a:solidFill>
          <a:ln w="3175">
            <a:solidFill>
              <a:srgbClr val="C8FF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06624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34747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Unitree Go2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33472" y="38404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brain, four legs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33472" y="43434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C8FF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“Sayso, fetch.”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779008" y="2834640"/>
            <a:ext cx="365760" cy="365760"/>
          </a:xfrm>
          <a:prstGeom prst="ellipse">
            <a:avLst/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56048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82896" y="34747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Multi-agent dispatch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82896" y="38404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→ parallel coding agents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28432" y="2834640"/>
            <a:ext cx="365760" cy="365760"/>
          </a:xfrm>
          <a:prstGeom prst="ellipse">
            <a:avLst/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05472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4747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Pipecat Cloud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8404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hosted, shareable instance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277856" y="2834640"/>
            <a:ext cx="365760" cy="365760"/>
          </a:xfrm>
          <a:prstGeom prst="ellipse">
            <a:avLst/>
          </a:prstGeom>
          <a:solidFill>
            <a:srgbClr val="8B7CFF"/>
          </a:solidFill>
          <a:ln w="3175">
            <a:solidFill>
              <a:srgbClr val="8B7C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54896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81744" y="34747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VS Code extension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381744" y="38404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Workbench inside the editor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16161A"/>
          </a:solidFill>
          <a:ln w="9525">
            <a:solidFill>
              <a:srgbClr val="2A2A3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50468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SambaNova · Hume · General Compute · Infinity · Pipecat / Daily · Gradium · AGI House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512064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terminal, on your say-so.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Sayso — your terminal, on your say-so</dc:title>
  <dc:subject>PptxGenJS Presentation</dc:subject>
  <dc:creator>Sayso</dc:creator>
  <cp:lastModifiedBy>Sayso</cp:lastModifiedBy>
  <cp:revision>1</cp:revision>
  <dcterms:created xsi:type="dcterms:W3CDTF">2026-09-19T23:32:43Z</dcterms:created>
  <dcterms:modified xsi:type="dcterms:W3CDTF">2026-09-19T23:32:43Z</dcterms:modified>
</cp:coreProperties>
</file>